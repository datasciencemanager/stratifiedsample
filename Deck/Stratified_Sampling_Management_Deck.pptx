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Population vs Sample Distribution — Key Strata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Population %</c:v>
                </c:pt>
              </c:strCache>
            </c:strRef>
          </c:tx>
          <c:spPr>
            <a:solidFill>
              <a:srgbClr val="0D1F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Sports</c:v>
                  </c:pt>
                  <c:pt idx="1">
                    <c:v>Entertainment</c:v>
                  </c:pt>
                  <c:pt idx="2">
                    <c:v>UAE</c:v>
                  </c:pt>
                  <c:pt idx="3">
                    <c:v>Qatar</c:v>
                  </c:pt>
                  <c:pt idx="4">
                    <c:v>Egypt</c:v>
                  </c:pt>
                  <c:pt idx="5">
                    <c:v>Kuwait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45.1</c:v>
                </c:pt>
                <c:pt idx="1">
                  <c:v>54.9</c:v>
                </c:pt>
                <c:pt idx="2">
                  <c:v>25.2</c:v>
                </c:pt>
                <c:pt idx="3">
                  <c:v>20.5</c:v>
                </c:pt>
                <c:pt idx="4">
                  <c:v>17.3</c:v>
                </c:pt>
                <c:pt idx="5">
                  <c:v>11.9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Sample %</c:v>
                </c:pt>
              </c:strCache>
            </c:strRef>
          </c:tx>
          <c:spPr>
            <a:solidFill>
              <a:srgbClr val="0A93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Sports</c:v>
                  </c:pt>
                  <c:pt idx="1">
                    <c:v>Entertainment</c:v>
                  </c:pt>
                  <c:pt idx="2">
                    <c:v>UAE</c:v>
                  </c:pt>
                  <c:pt idx="3">
                    <c:v>Qatar</c:v>
                  </c:pt>
                  <c:pt idx="4">
                    <c:v>Egypt</c:v>
                  </c:pt>
                  <c:pt idx="5">
                    <c:v>Kuwait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43.3</c:v>
                </c:pt>
                <c:pt idx="1">
                  <c:v>56.8</c:v>
                </c:pt>
                <c:pt idx="2">
                  <c:v>24</c:v>
                </c:pt>
                <c:pt idx="3">
                  <c:v>20.2</c:v>
                </c:pt>
                <c:pt idx="4">
                  <c:v>16.8</c:v>
                </c:pt>
                <c:pt idx="5">
                  <c:v>11.9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12801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Sampling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74320" y="21945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for Representative Data Sampling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74320" y="27432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Content Type · Country · Genre · Language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74320" y="40233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Team  |  May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0" y="4023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502920" cy="8046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247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10058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 sampling fails for diverse user data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20240"/>
            <a:ext cx="502920" cy="8046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848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19659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Stratified Sampling?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" y="2331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key concepts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80360"/>
            <a:ext cx="502920" cy="8046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0449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" y="29260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synthetic dataset based on real schema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84048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840480"/>
            <a:ext cx="502920" cy="8046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0050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1248" y="38862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" y="4251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Sparklyr implementation steps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96012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960120"/>
            <a:ext cx="502920" cy="8046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1247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21808" y="10058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Validation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21808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sample represents the population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192024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920240"/>
            <a:ext cx="502920" cy="8046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0848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21808" y="19659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References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21808" y="2331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use cases &amp; academic backing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88036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880360"/>
            <a:ext cx="502920" cy="8046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0449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21808" y="29260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21808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 &amp; recommendations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20240" cy="12801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~10M+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events/day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50592" y="914400"/>
            <a:ext cx="1920240" cy="12801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50592" y="1645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914400"/>
            <a:ext cx="1920240" cy="12801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26864" y="1645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Types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03136" y="914400"/>
            <a:ext cx="1920240" cy="12801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&gt;300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03136" y="1645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strata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23774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Simple Random Sampling Falls Short: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2852928"/>
            <a:ext cx="201168" cy="201168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8163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sampling over-represents dominant groups (e.g., UAE users, Sports content)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328416"/>
            <a:ext cx="201168" cy="201168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291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strata (e.g., Bahrain + Horror + Turkish) are missed entirely, skewing analysis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803904"/>
            <a:ext cx="201168" cy="201168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7673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on biased samples produces poor recommendations for minority segments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4279392"/>
            <a:ext cx="201168" cy="201168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2428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decisions based on non-representative data lead to revenue leakage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Stratified Sampling?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7772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Sampling divides the population into mutually exclusive sub-groups (strata) based on shared characteristics, then draws proportional samples from each stratum — guaranteeing every segment is represented.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874520"/>
            <a:ext cx="1920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874520"/>
            <a:ext cx="192024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2024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2514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Identify Strata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301752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all categorical columns: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ContentType · Genre · Country · Language · SportsName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50592" y="1874520"/>
            <a:ext cx="1920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50592" y="1874520"/>
            <a:ext cx="192024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192024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50592" y="2514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Build Composite Key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542032" y="301752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all categories into one unique stratum key (294 unique strata in 10K dataset)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626864" y="1874520"/>
            <a:ext cx="1920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26864" y="1874520"/>
            <a:ext cx="192024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192024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26864" y="2514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Sample Each Stratum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718304" y="301752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fixed % (e.g. 10%) from every stratum independently — rare combos are never skipped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803136" y="1874520"/>
            <a:ext cx="1920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803136" y="1874520"/>
            <a:ext cx="192024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92024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03136" y="2514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Validate Distribution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6894576" y="301752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population vs sample distributions; max drift &lt; 2% confirms representativeness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— 10K Synthetic Dataset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3200400"/>
        </p:xfrm>
        <a:graphic>
          <a:graphicData uri="http://schemas.openxmlformats.org/drawingml/2006/table">
            <a:tbl>
              <a:tblPr/>
              <a:tblGrid>
                <a:gridCol w="1371600"/>
                <a:gridCol w="1005840"/>
                <a:gridCol w="3017520"/>
                <a:gridCol w="32004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Example Values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UserID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Integer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Unique viewer identifier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101–200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ContentType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Category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Sports or Entertainment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Sports, Entertainment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SportsName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Category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Sport watched (Sports only)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Football, Tennis, Padel…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Genre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Category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Film/show genre (Ent. only)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Drama, Action, Horror…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Country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Category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Viewer's country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UAE, Qatar, Egypt…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Language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Category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Content language (Ent. only)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Arabic, English, Turkish…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TotalMins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Float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Total minutes consumed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0.1 – 500+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TotalCNT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Integer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Total content count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 – 5000+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251960"/>
            <a:ext cx="1920240" cy="6858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270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4590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450592" y="4251960"/>
            <a:ext cx="1920240" cy="6858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50592" y="4270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450592" y="4590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users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26864" y="4251960"/>
            <a:ext cx="1920240" cy="6858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26864" y="4270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294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626864" y="4590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strata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803136" y="4251960"/>
            <a:ext cx="1920240" cy="6858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03136" y="4270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/ 55%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803136" y="4590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/ Entertainment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 — Python &amp; Sparklyr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023360" cy="47548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(pandas)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" y="1481328"/>
            <a:ext cx="256032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490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" y="148132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10K population DataFrame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" y="1865376"/>
            <a:ext cx="256032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874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186537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NAs with '__NA__' placeholder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2249424"/>
            <a:ext cx="256032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258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3232" y="224942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 ALL cat. columns → composite strat_key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" y="2633472"/>
            <a:ext cx="256032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642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3232" y="263347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strat_key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" y="3017520"/>
            <a:ext cx="256032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026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3232" y="30175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max(1, round(n × pct)) rows per group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4048" y="3401568"/>
            <a:ext cx="256032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410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3232" y="340156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 results → final stratified sample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4048" y="3785616"/>
            <a:ext cx="256032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794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3232" y="378561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Validate: compare pop_pct vs sample_pct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91440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914400"/>
            <a:ext cx="4023360" cy="47548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960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Sparklyr (R / Spark)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956048" y="1481328"/>
            <a:ext cx="256032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1490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85232" y="148132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spark_connect() to cluster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56048" y="1865376"/>
            <a:ext cx="256032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56048" y="1874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85232" y="186537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copy_to() or spark_read_parquet()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956048" y="2249424"/>
            <a:ext cx="256032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56048" y="2258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85232" y="224942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mutate() NAs → '__NA__'; paste() strat_key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956048" y="2633472"/>
            <a:ext cx="256032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56048" y="2642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285232" y="263347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distinct strata keys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956048" y="3017520"/>
            <a:ext cx="256032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56048" y="3026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285232" y="30175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fractions list (pct per key)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956048" y="3401568"/>
            <a:ext cx="256032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56048" y="3410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285232" y="340156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sdf_sample_by() — Spark-native distributed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956048" y="3785616"/>
            <a:ext cx="256032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56048" y="3794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285232" y="378561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&amp; compare distributions in 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Validation Results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20240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875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1.86%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4813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drift (any level)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50592" y="914400"/>
            <a:ext cx="1920240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9875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50592" y="14813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drift across all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26864" y="914400"/>
            <a:ext cx="1920240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9875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26864" y="14813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Strata validated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03136" y="914400"/>
            <a:ext cx="1920240" cy="1005840"/>
          </a:xfrm>
          <a:prstGeom prst="rect">
            <a:avLst/>
          </a:prstGeom>
          <a:solidFill>
            <a:srgbClr val="1B6B41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9875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03136" y="14813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Representativeness check</a:t>
            </a:r>
            <a:endParaRPr lang="en-US" sz="10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274320" y="2057400"/>
          <a:ext cx="85953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Cases &amp; References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6517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651760" cy="5943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1005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5760" y="15727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 Model Training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2029968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trains its collaborative-filtering recommendation model on a curated sample of ~700M playlists out of 9B total — selected to ensure representative coverage of user listening behaviors across genres and languages.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65760" y="4434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music-tomorrow.com/blog/how-spotify-recommendation-system-works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172968" y="914400"/>
            <a:ext cx="26517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72968" y="914400"/>
            <a:ext cx="265176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00584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03320" y="1005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Statsig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264408" y="15727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— 50% Variance Reduction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264408" y="2029968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Statsig's experimentation platform uses stratified sampling for A/B tests. Their simulations showed ~50% reduction in variance of A/A test results, reducing false positives and yielding more trustworthy results — especially for B2B or power-user-heavy metrics.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264408" y="4434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statsig.com/blog/introducing-stratified-sampling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6071616" y="914400"/>
            <a:ext cx="26517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71616" y="914400"/>
            <a:ext cx="2651760" cy="59436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56" y="1005840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01968" y="1005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163056" y="15727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Recommendations (STS-AEL)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163056" y="2029968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Zhao et al. (2021, Applied Intelligence) propose stratified + time-aware sampling for streaming recommender systems. Validated on 3 real-world datasets, it significantly outperforms conventional methods by maintaining long-term user preference coverage.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6163056" y="4434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arxiv.org/abs/2009.06824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Process for Management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1554480" cy="5486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9326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1188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2880" y="1463040"/>
            <a:ext cx="15544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" y="1508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Audit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" y="1965960"/>
            <a:ext cx="164592" cy="16459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20240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all categorical columns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2608" y="2770632"/>
            <a:ext cx="164592" cy="16459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724912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data types &amp; null rates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2608" y="3575304"/>
            <a:ext cx="164592" cy="16459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529584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dominant vs rare strata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56816" y="914400"/>
            <a:ext cx="1554480" cy="548640"/>
          </a:xfrm>
          <a:prstGeom prst="rect">
            <a:avLst/>
          </a:prstGeom>
          <a:solidFill>
            <a:srgbClr val="0A9396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56816" y="9326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56816" y="1188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956816" y="1463040"/>
            <a:ext cx="15544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56816" y="1508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Strata Design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66544" y="1965960"/>
            <a:ext cx="164592" cy="16459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76856" y="1920240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on stratification columns with stakeholders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066544" y="2770632"/>
            <a:ext cx="164592" cy="16459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76856" y="2724912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sample % per business use case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066544" y="3575304"/>
            <a:ext cx="164592" cy="16459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76856" y="3529584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NA/missing values (encode as __NA__)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30752" y="914400"/>
            <a:ext cx="1554480" cy="5486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30752" y="9326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30752" y="1188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2–3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730752" y="1463040"/>
            <a:ext cx="15544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730752" y="1508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840480" y="1965960"/>
            <a:ext cx="164592" cy="16459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50792" y="1920240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Python or sparklyr script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840480" y="2770632"/>
            <a:ext cx="164592" cy="16459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50792" y="2724912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stratified sample dataset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840480" y="3575304"/>
            <a:ext cx="164592" cy="16459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50792" y="3529584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to data lake / Spark table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504688" y="914400"/>
            <a:ext cx="1554480" cy="548640"/>
          </a:xfrm>
          <a:prstGeom prst="rect">
            <a:avLst/>
          </a:prstGeom>
          <a:solidFill>
            <a:srgbClr val="0A9396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04688" y="9326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04688" y="1188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504688" y="1463040"/>
            <a:ext cx="15544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504688" y="1508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614416" y="1965960"/>
            <a:ext cx="164592" cy="16459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24728" y="1920240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distribution: pop vs sample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614416" y="2770632"/>
            <a:ext cx="164592" cy="16459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24728" y="2724912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max drift &lt; 5% threshold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614416" y="3575304"/>
            <a:ext cx="164592" cy="16459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24728" y="3529584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&amp; sign off with analytics lead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278624" y="914400"/>
            <a:ext cx="1554480" cy="5486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78624" y="9326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278624" y="1188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4+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278624" y="1463040"/>
            <a:ext cx="15544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278624" y="1508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388352" y="1965960"/>
            <a:ext cx="164592" cy="16459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98664" y="1920240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automated re-sampling pipeline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388352" y="2770632"/>
            <a:ext cx="164592" cy="16459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98664" y="2724912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 sample datasets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388352" y="3575304"/>
            <a:ext cx="164592" cy="16459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598664" y="3529584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drift monthly — re-sample if needed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200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023360" cy="1097280"/>
          </a:xfrm>
          <a:prstGeom prst="rect">
            <a:avLst/>
          </a:prstGeom>
          <a:solidFill>
            <a:srgbClr val="162A4A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344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Approve 10% Stratified Sample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645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 default dataset for all analytics &amp; model training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4023360" cy="1097280"/>
          </a:xfrm>
          <a:prstGeom prst="rect">
            <a:avLst/>
          </a:prstGeom>
          <a:solidFill>
            <a:srgbClr val="162A4A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2344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Automate Sampling Pipeline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1645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weekly/monthly re-sampling using Spark job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514600"/>
            <a:ext cx="4023360" cy="1097280"/>
          </a:xfrm>
          <a:prstGeom prst="rect">
            <a:avLst/>
          </a:prstGeom>
          <a:solidFill>
            <a:srgbClr val="162A4A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6060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Set Drift Threshold Policy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0175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any stratum with &gt;5% drift for investigation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514600"/>
            <a:ext cx="4023360" cy="1097280"/>
          </a:xfrm>
          <a:prstGeom prst="rect">
            <a:avLst/>
          </a:prstGeom>
          <a:solidFill>
            <a:srgbClr val="162A4A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6060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 Team Training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30175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on Python/sparklyr sampling for data team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34340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"Stratified sampling ensures every user segment — regardless of size — is fairly represented in your data."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Stratified Sampling – Management Presentation</dc:title>
  <dc:subject>PptxGenJS Presentation</dc:subject>
  <dc:creator>PptxGenJS</dc:creator>
  <cp:lastModifiedBy>PptxGenJS</cp:lastModifiedBy>
  <cp:revision>1</cp:revision>
  <dcterms:created xsi:type="dcterms:W3CDTF">2026-05-13T20:16:13Z</dcterms:created>
  <dcterms:modified xsi:type="dcterms:W3CDTF">2026-05-13T20:16:13Z</dcterms:modified>
</cp:coreProperties>
</file>