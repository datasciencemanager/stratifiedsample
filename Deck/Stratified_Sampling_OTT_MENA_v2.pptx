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All 4 categorical columns: population % = sample % (perfect proportional representation at 5%)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%</c:v>
                </c:pt>
              </c:strCache>
            </c:strRef>
          </c:tx>
          <c:spPr>
            <a:solidFill>
              <a:srgbClr val="1414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ContentType: Sports</c:v>
                  </c:pt>
                  <c:pt idx="1">
                    <c:v>ContentType: Entertain.</c:v>
                  </c:pt>
                  <c:pt idx="2">
                    <c:v>SportType: EPL</c:v>
                  </c:pt>
                  <c:pt idx="3">
                    <c:v>SportType: NBA</c:v>
                  </c:pt>
                  <c:pt idx="4">
                    <c:v>SportType: F1</c:v>
                  </c:pt>
                  <c:pt idx="5">
                    <c:v>Genre: Drama</c:v>
                  </c:pt>
                  <c:pt idx="6">
                    <c:v>Genre: Action</c:v>
                  </c:pt>
                  <c:pt idx="7">
                    <c:v>Genre: Thriller</c:v>
                  </c:pt>
                  <c:pt idx="8">
                    <c:v>Country: UAE</c:v>
                  </c:pt>
                  <c:pt idx="9">
                    <c:v>Country: Qatar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</c:v>
                </c:pt>
                <c:pt idx="1">
                  <c:v>60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21</c:v>
                </c:pt>
                <c:pt idx="6">
                  <c:v>19</c:v>
                </c:pt>
                <c:pt idx="7">
                  <c:v>20</c:v>
                </c:pt>
                <c:pt idx="8">
                  <c:v>25</c:v>
                </c:pt>
                <c:pt idx="9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5% Sample %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ContentType: Sports</c:v>
                  </c:pt>
                  <c:pt idx="1">
                    <c:v>ContentType: Entertain.</c:v>
                  </c:pt>
                  <c:pt idx="2">
                    <c:v>SportType: EPL</c:v>
                  </c:pt>
                  <c:pt idx="3">
                    <c:v>SportType: NBA</c:v>
                  </c:pt>
                  <c:pt idx="4">
                    <c:v>SportType: F1</c:v>
                  </c:pt>
                  <c:pt idx="5">
                    <c:v>Genre: Drama</c:v>
                  </c:pt>
                  <c:pt idx="6">
                    <c:v>Genre: Action</c:v>
                  </c:pt>
                  <c:pt idx="7">
                    <c:v>Genre: Thriller</c:v>
                  </c:pt>
                  <c:pt idx="8">
                    <c:v>Country: UAE</c:v>
                  </c:pt>
                  <c:pt idx="9">
                    <c:v>Country: Qatar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40</c:v>
                </c:pt>
                <c:pt idx="1">
                  <c:v>60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21</c:v>
                </c:pt>
                <c:pt idx="6">
                  <c:v>19</c:v>
                </c:pt>
                <c:pt idx="7">
                  <c:v>20</c:v>
                </c:pt>
                <c:pt idx="8">
                  <c:v>25</c:v>
                </c:pt>
                <c:pt idx="9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114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118872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20040" y="21214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4-Variable Framework for OTT Analytics — MENA Region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20040" y="2743200"/>
            <a:ext cx="2011680" cy="3474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ContentType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/ Entertainment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32888" y="2743200"/>
            <a:ext cx="2011680" cy="34747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32888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SportType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32888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· LaLiga · UCL · NBA · F1 · Padel · Tennis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45736" y="2743200"/>
            <a:ext cx="20116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45736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EntertainmentGenre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45736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· Action · Thriller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58584" y="2743200"/>
            <a:ext cx="201168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58584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58584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MENA nations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0040" y="3611880"/>
            <a:ext cx="3200400" cy="43891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611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reference: Netflix MENA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21F1F"/>
          </a:solidFill>
          <a:ln w="12700">
            <a:solidFill>
              <a:srgbClr val="221F1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700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4-Column Schema — Why EntertainmentGenre is Separate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65836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EntertainmentGenre (Drama/Action/Thriller) is a SEPARATE categorical column — not mixed with sport leagues. When ContentType = Sports, Genre = '__NA__'. When ContentType = Entertainment, SportType = '__NA__'. This gives a clean 4-axis composite stratification key.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00200"/>
          <a:ext cx="859536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1005840"/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Sports row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Entertainment row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ContentType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Sports | Entertainment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Entertainment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Always populated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SportType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EPL | LaLiga | UCL | NBA | Padel | F1 | Tennis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e.g. EPL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__NA__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NA for entertainment rows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EntertainmentGenre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Drama | Action | Thriller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__NA__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e.g. Drama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NA for sports rows ← NEW separate column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Country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UAE | Qatar | Egypt | Kuwait | Saudi Arabia | Bahrain | Jordan | Iraq | Palestine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e.g. UAE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e.g. Qatar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Always populated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rows in your dataset: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58768"/>
          <a:ext cx="8595360" cy="109728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280160"/>
                <a:gridCol w="1828800"/>
                <a:gridCol w="12801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UserID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ContentType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SportType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EntertainmentGenre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EPL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UAE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NBA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Qatar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Entertainment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__NA__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F46"/>
                          </a:solidFill>
                        </a:rPr>
                        <a:t>Drama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Egypt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Entertainment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__NA__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F46"/>
                          </a:solidFill>
                        </a:rPr>
                        <a:t>Thriller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Kuwait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Palestine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50017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= EntertainmentGenre populated  ·  Grey = __NA__ (sports row, genre not applicable)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Stratification Key — 4 Columns Combined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strat_key  =  ContentType  |  SportType  |  EntertainmentGenre  |  Country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composite keys: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2999232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  <a:gridCol w="1280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Composite Key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Plain English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2400E"/>
                          </a:solidFill>
                        </a:rPr>
                        <a:t>Sports | EPL | __NA__ | UAE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EPL viewer in UAE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Football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2400E"/>
                          </a:solidFill>
                        </a:rPr>
                        <a:t>Sports | LaLiga | __NA__ | Qatar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LaLiga viewer in Qatar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Football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2400E"/>
                          </a:solidFill>
                        </a:rPr>
                        <a:t>Sports | UCL | __NA__ | Egypt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Champions League — Egypt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Football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C4A6E"/>
                          </a:solidFill>
                        </a:rPr>
                        <a:t>Sports | NBA | __NA__ | Kuwait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NBA viewer in Kuwait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C4A6E"/>
                          </a:solidFill>
                        </a:rPr>
                        <a:t>Non-Football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C4A6E"/>
                          </a:solidFill>
                        </a:rPr>
                        <a:t>Sports | F1 | __NA__ | Bahrain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F1 viewer in Bahrain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C4A6E"/>
                          </a:solidFill>
                        </a:rPr>
                        <a:t>Non-Football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C4A6E"/>
                          </a:solidFill>
                        </a:rPr>
                        <a:t>Sports | Padel | __NA__ | UAE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Padel viewer in UAE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C4A6E"/>
                          </a:solidFill>
                        </a:rPr>
                        <a:t>Non-Football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C4A6E"/>
                          </a:solidFill>
                        </a:rPr>
                        <a:t>Sports | Tennis | __NA__ | Saudi Arabia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Tennis viewer — Saudi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C4A6E"/>
                          </a:solidFill>
                        </a:rPr>
                        <a:t>Non-Football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Entertainment | __NA__ | Drama | Egypt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Drama watcher in Egypt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Genre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Entertainment | __NA__ | Action | UAE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Action viewer in UAE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Genre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</a:rPr>
                        <a:t>Entertainment | __NA__ | Thriller | Palestine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Thriller viewer in Palestine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</a:rPr>
                        <a:t>Genre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983480"/>
            <a:ext cx="859536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9926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users  ×  4 variables  =  ~620 unique strata   (vs ~520 with 3 variables — finer, more accurate)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Breakdown — 2M MENA Users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92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92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450592" y="1481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countries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2024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92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626864" y="1481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2024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92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803136" y="1481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strata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65960"/>
          <a:ext cx="8595360" cy="2999232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1417320"/>
                <a:gridCol w="1005840"/>
                <a:gridCol w="777240"/>
                <a:gridCol w="3063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ContentType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SportType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EntertainmentGenre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Users (est.)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of 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Netflix MENA Example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EPL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EPL highlights / Match of the Day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LaLiga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El Clásico documentaries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UCL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UEFA Champions League coverage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NBA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NBA game highlights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Padel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Padel World Tour series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Drive to Survive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Tennis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Grand Slam documentaries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Entertainment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Drama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Finding Ola · The Exchange S2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380,000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International action titles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Thriller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 Rawabi School for Girls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274320" y="50017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Yellow = Sports rows (EntertainmentGenre = __NA__)   ·   🟢 Green = Entertainment rows (SportType = __NA__)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5% Stratified Sample — Formula &amp; Worked Examples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(Cochran, 1977):    n_h  =  max( 1,  round( N_h  ×  0.05 ) )    where N_h = population size of stratum 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— 4-variable strata (ContentType | SportType | EntertainmentGenre | Country):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01952"/>
          <a:ext cx="8595360" cy="2852928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325880"/>
                <a:gridCol w="1051560"/>
                <a:gridCol w="868680"/>
                <a:gridCol w="685800"/>
                <a:gridCol w="685800"/>
                <a:gridCol w="12344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ContentType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SportType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EntertainmentGenre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N_h (pop)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5% Raw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Floor?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n_h (sample)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EPL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UAE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14,400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720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720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LaLiga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Egypt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9,800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490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490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UCL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Qatar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7,000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350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350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NBA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Kuwait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4,800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240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240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F1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Bahrain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1,200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Entertain.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Drama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UAE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32,000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1,600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1,600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Entertain.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Action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Egypt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24,000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1,200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1,200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Entertain.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Thriller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Qatar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18,000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900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900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Padel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Iraq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Sports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Tennis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Palestine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85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Entertain.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Drama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Palestine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1→0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92400E"/>
                          </a:solidFill>
                        </a:rPr>
                        <a:t>YES ✓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92400E"/>
                          </a:solidFill>
                        </a:rPr>
                        <a:t>1 (floor)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Entertain.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i="1" dirty="0">
                          <a:solidFill>
                            <a:srgbClr val="64748B"/>
                          </a:solidFill>
                        </a:rPr>
                        <a:t>__NA__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Thriller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Iraq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0→?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92400E"/>
                          </a:solidFill>
                        </a:rPr>
                        <a:t>YES ✓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92400E"/>
                          </a:solidFill>
                        </a:rPr>
                        <a:t>1 (floor)</a:t>
                      </a:r>
                      <a:endParaRPr lang="en-US" sz="8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818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Yellow rows — floor applied: round(N_h × 0.05) = 0 → minimum of 1 row guaranteed (Strategy 1 min-floor)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 Columns Give Better Strata Coverage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206240" cy="47548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3-Variable Approach (OLD)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ContentType | ContentSubType | Country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1280160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~520 strata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62072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Drama, Action, Thriller mixed with EPL, NBA, F1 in one ContentSubType column → genre and sport leagues share the same field → users who watch Entertainment have genre info in sport field → analytically incorrect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868680"/>
            <a:ext cx="4206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868680"/>
            <a:ext cx="420624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961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4-Variable Approach (NEW ✓)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6642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ContentType | SportType | EntertainmentGenre | Country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2084832"/>
            <a:ext cx="128016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0848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~620 strata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862072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EntertainmentGenre is its own column → sports rows have __NA__ in genre → entertainment rows have __NA__ in sport → each column has one clear meaning → cleaner strata, more accurate distribution validation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26280" y="2560320"/>
            <a:ext cx="91440" cy="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242316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Validation — Population vs 5% Sample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drift — all 4 columns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01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481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validated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2024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01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1481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lost (floor applied)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2024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01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4813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Representativeness check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1993392"/>
          <a:ext cx="85953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MENA — Real-World Stratified Analytics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Segmentation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segments MENA users across behavioural, demographic, psychographic and geographic variables. Genre preference, binge-watching patterns and country form natural stratification axes — exactly aligning with our 4-column schema.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Netflix Tech Blog (2023) — IJRPR (2025)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74320" y="30175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017520"/>
            <a:ext cx="402336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054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Stratified Sampling — Published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474720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research (Qubahan Academic Journal, 2025) applied stratified random sampling to OTT customers across Netflix, Hulu, Amazon Prime and Disney+, stratifying by age, gender and consumption frequency — validating multi-variable stratification.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journal.qubahan.com/qaj/article/view/1600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402336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50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MENA Arabic Content 2024–2026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committed to productions from UAE, Saudi Arabia, Egypt, Kuwait and Jordan: Al Rawabi (Jordan · Drama/Thriller), The Exchange S2 (Kuwait · Drama), Dubai Bling S3 (UAE · Reality). Country × EntertainmentGenre × SportType = exact 4-axis strata.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About Netflix (2024) &amp; BroadcastPro ME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402336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54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× MBC/Shahid MENA Bundle (2025)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partnered with Shahid (22% MENA share, 3.6M subs) combining Arabic drama, sports events and international titles. Understanding which Genre resonates by Country — separate from SportType — is precisely why EntertainmentGenre needs its own column.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BroadcastPro ME (Jul 2025) · Variety (2024)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sparklyr Implementation — 4-Column Stratified Sample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computation stays in Spark — population NEVER collected to 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Build composite key from 4 separate columns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pop_keyed &lt;- pop_sdf %&gt;%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ContentType        = ifelse(is.na(ContentType),        '__NA__', ContentType),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SportType          = ifelse(is.na(SportType),          '__NA__', SportType),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EntertainmentGenre = ifelse(is.na(EntertainmentGenre), '__NA__', EntertainmentGenre),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Country            = ifelse(is.na(Country),            '__NA__', Country)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%&gt;%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strat_key = paste(ContentType, SportType, EntertainmentGenre, Country, sep = ' | 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Per-stratum sizes with Strategy 1 floor (tiny collect ~620 rows)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strata_sizes &lt;- pop_keyed %&gt;%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group_by(strat_key) %&gt;% summarise(pop_n = n(), .groups = 'drop') %&gt;% collect() %&gt;%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mutate(n_take = pmin(pmax(1L, as.integer(round(pop_n * 0.05))), pop_n))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 — Push sizes to Spark, window-rank sample (runs distributed)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sizes_sdf  &lt;- copy_to(sc, strata_sizes %&gt;% select(strat_key, n_take), overwrite=TRUE)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sample_sdf &lt;- pop_keyed %&gt;%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mutate(rand_val = rand(42L)) %&gt;% group_by(strat_key) %&gt;%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mutate(row_rank = rank(rand_val)) %&gt;% ungroup() %&gt;%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left_join(sizes_sdf, by = 'strat_key') %&gt;%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filter(row_rank &lt;= n_take) %&gt;% select(-rand_val, -row_rank, -n_take)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Key Takeaways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4864" cy="4114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92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Cochran, W.G. (1977)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Techniques, 3rd ed. Wiley — Ch.5: n_h = max(1, round(N_h × pct)) — proportional allocation with minimum floor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581912"/>
            <a:ext cx="54864" cy="4114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910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Encyclopedia (2018)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'Stratified sampling ensures ≥1 observation per stratum, even when stratum proportion approaches 0'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03704"/>
            <a:ext cx="54864" cy="4114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12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Tech Blog (2023)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450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segments MENA users by behavioural, demographic, psychographic and geographic variables — validating 4-axis stratification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25496"/>
            <a:ext cx="54864" cy="4114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834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Qubahan Academic Journal (2025)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072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random sampling applied to OTT customers (Netflix / Hulu / Amazon / Disney+) — multi-variable stratification in practice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47288"/>
            <a:ext cx="54864" cy="4114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456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BroadcastPro ME (Jul 2025)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6941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× MBC Shahid MENA bundle: Arabic drama + sports events + international content — Country × Genre × SportType = exact strata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069080"/>
            <a:ext cx="54864" cy="4114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0782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 / Omdia (Oct 2024)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OTT market 13% growth 2023; Shahid 22%, Netflix 17% market share — content diversity by country drives stratified analytics need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 separate columns — ContentType, SportType, EntertainmentGenre, Country — means every strata is analytically clean and every viewer is fairly heard."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Stratified Sampling – OTT MENA (4-Variable)</dc:title>
  <dc:subject>PptxGenJS Presentation</dc:subject>
  <dc:creator>PptxGenJS</dc:creator>
  <cp:lastModifiedBy>PptxGenJS</cp:lastModifiedBy>
  <cp:revision>1</cp:revision>
  <dcterms:created xsi:type="dcterms:W3CDTF">2026-05-17T19:25:17Z</dcterms:created>
  <dcterms:modified xsi:type="dcterms:W3CDTF">2026-05-17T19:25:17Z</dcterms:modified>
</cp:coreProperties>
</file>